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58368"/>
            <a:ext cx="1965960" cy="438912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740664"/>
            <a:ext cx="1645920" cy="25603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ISUTC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10058400" cy="80467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SecureShare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633472"/>
            <a:ext cx="9692640" cy="11887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500" b="0">
                <a:solidFill>
                  <a:srgbClr val="D4E7F6"/>
                </a:solidFill>
                <a:latin typeface="Aptos"/>
              </a:defRPr>
            </a:pPr>
            <a:r>
              <a:t>Sistema distribuído de partilha segura de documentos entre departamentos universitários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389120"/>
            <a:ext cx="9966960" cy="12801"/>
          </a:xfrm>
          <a:prstGeom prst="roundRect">
            <a:avLst>
              <a:gd name="adj" fmla="val 13000"/>
            </a:avLst>
          </a:prstGeom>
          <a:solidFill>
            <a:srgbClr val="48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754880"/>
            <a:ext cx="9692640" cy="8229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D6DEE8"/>
                </a:solidFill>
                <a:latin typeface="Aptos"/>
              </a:defRPr>
            </a:pPr>
            <a:r>
              <a:t>Relatório e apresentação preliminares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D6DEE8"/>
                </a:solidFill>
                <a:latin typeface="Aptos"/>
              </a:defRPr>
            </a:pPr>
            <a:r>
              <a:t>Autores: [inserir]   ·   Docente: MSc. Sérgio J. Sambo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09360"/>
            <a:ext cx="9692640" cy="3200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9DBFDE"/>
                </a:solidFill>
                <a:latin typeface="Aptos"/>
              </a:defRPr>
            </a:pPr>
            <a:r>
              <a:t>Resultados até 12/10/2026 — ainda existem testes integrados pendentes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01 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O cenário: uma universidade, vários departamentos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O SecureShare atende à troca de documentos entre departamentos de uma instituição universitária.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3337560" cy="2057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40280"/>
            <a:ext cx="68580" cy="205740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404872"/>
            <a:ext cx="297180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Registo Académico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26080"/>
            <a:ext cx="2926079" cy="125272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Pautas, declarações e relatórios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240280"/>
            <a:ext cx="3337560" cy="2057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2240280"/>
            <a:ext cx="68580" cy="205740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404872"/>
            <a:ext cx="297180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Direcção Pedagógica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7" y="2926080"/>
            <a:ext cx="2926079" cy="125272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Consulta e aprovação de documentos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2240280"/>
            <a:ext cx="3337560" cy="2057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26679" y="2240280"/>
            <a:ext cx="68580" cy="205740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2404872"/>
            <a:ext cx="297180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RH e Finanças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926080"/>
            <a:ext cx="2926079" cy="125272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Contratos, comprovativos e relatórios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983480"/>
            <a:ext cx="10698480" cy="7315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96A7E"/>
                </a:solidFill>
                <a:latin typeface="Aptos"/>
              </a:defRPr>
            </a:pPr>
            <a:r>
              <a:t>O contexto é hipotético: não afirmamos que uma universidade específica apresentou estes problemas.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02 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Qual é o problema?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Controlar quem acede a cada documento e reduzir a dependência de um único nó de armazenamento.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303520" cy="1463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68580" cy="14630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21992"/>
            <a:ext cx="493775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01  Dispersão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43200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Múltiplos canais e versões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57400"/>
            <a:ext cx="5303520" cy="1463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2057400"/>
            <a:ext cx="68580" cy="14630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221992"/>
            <a:ext cx="493775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02  Acesso indevido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43200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Permissões nem sempre explícitas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5303520" cy="1463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886200"/>
            <a:ext cx="68580" cy="14630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050791"/>
            <a:ext cx="493775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03  Falha de nó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572000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Documentos temporariamente inacessíveis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5303520" cy="14630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886200"/>
            <a:ext cx="68580" cy="14630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050791"/>
            <a:ext cx="493775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04  Auditoria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572000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Dificuldade em reconstruir 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03  ENQUADRAMENTO CIENTÍFICO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Pergunta, objetivo e hipótese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0835640" cy="11430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68580" cy="114300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56232"/>
            <a:ext cx="1046988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Pergunta de investigação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77440"/>
            <a:ext cx="10424160" cy="33832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Como partilhar documentos com segurança e manter acesso quando um nó de armazenamento falha?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5257800" cy="2194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68580" cy="219456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227832"/>
            <a:ext cx="489204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Objetivo geral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749039"/>
            <a:ext cx="4846320" cy="138988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Desenvolver e avaliar uma arquitetura com autenticação, ACL, integridade, replicação e auditoria.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063240"/>
            <a:ext cx="5394960" cy="2194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3063240"/>
            <a:ext cx="68580" cy="2194560"/>
          </a:xfrm>
          <a:prstGeom prst="roundRect">
            <a:avLst>
              <a:gd name="adj" fmla="val 13000"/>
            </a:avLst>
          </a:prstGeom>
          <a:solidFill>
            <a:srgbClr val="DA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227832"/>
            <a:ext cx="5029200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Tese a testar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749039"/>
            <a:ext cx="4983480" cy="138988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Uma cópia íntegra no segundo nó pode garantir o download durante a falha isolada do primeiro.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04  SISTEMAS DISTRIBUÍDOS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Fundamentação teórica aplicada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02152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68580" cy="16916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93392"/>
            <a:ext cx="31363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Nós independentes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14600"/>
            <a:ext cx="3090672" cy="8869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Processos/serviços que comunicam pela rede.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28800"/>
            <a:ext cx="3502152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6552" y="1828800"/>
            <a:ext cx="68580" cy="16916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31363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Passagem de mensagens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3090672" cy="8869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Requisições HTTP sobre TLS entre componentes.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828800"/>
            <a:ext cx="3502152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47304" y="1828800"/>
            <a:ext cx="68580" cy="169164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993392"/>
            <a:ext cx="31363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Transparência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514600"/>
            <a:ext cx="3090672" cy="8869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O utilizador não escolhe a localização da réplica.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502152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703320"/>
            <a:ext cx="68580" cy="169164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867911"/>
            <a:ext cx="31363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Autorização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89120"/>
            <a:ext cx="3090672" cy="8869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Um utilizador autenticado não pode ler qualquer documento.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3703320"/>
            <a:ext cx="3502152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16552" y="3703320"/>
            <a:ext cx="68580" cy="169164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867911"/>
            <a:ext cx="31363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Tolerância limitada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389120"/>
            <a:ext cx="3090672" cy="8869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Falha isolada do nó; API e base de dados continuam críticas.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703320"/>
            <a:ext cx="3502152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47304" y="3703320"/>
            <a:ext cx="68580" cy="169164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2" y="3867911"/>
            <a:ext cx="31363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Consistência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4389120"/>
            <a:ext cx="3090672" cy="8869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Estados persistentes e reconciliação de réplicas.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05 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Arquitetura do SecureShare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Quatro contentores na mesma máquina física, ligados pela rede interna do Docker Compose.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27632"/>
            <a:ext cx="3429000" cy="594360"/>
          </a:xfrm>
          <a:prstGeom prst="roundRect">
            <a:avLst>
              <a:gd name="adj" fmla="val 13000"/>
            </a:avLst>
          </a:prstGeom>
          <a:solidFill>
            <a:srgbClr val="DE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1810512"/>
            <a:ext cx="2468880" cy="3200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E203D"/>
                </a:solidFill>
                <a:latin typeface="Aptos"/>
              </a:defRPr>
            </a:pPr>
            <a:r>
              <a:t>Portal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697480"/>
            <a:ext cx="4526280" cy="777240"/>
          </a:xfrm>
          <a:prstGeom prst="roundRect">
            <a:avLst>
              <a:gd name="adj" fmla="val 13000"/>
            </a:avLst>
          </a:prstGeom>
          <a:solidFill>
            <a:srgbClr val="DE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935224"/>
            <a:ext cx="3675887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0E203D"/>
                </a:solidFill>
                <a:latin typeface="Aptos"/>
              </a:defRPr>
            </a:pPr>
            <a:r>
              <a:t>API FastAPI  ·  porta 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69080"/>
            <a:ext cx="3429000" cy="685800"/>
          </a:xfrm>
          <a:prstGeom prst="roundRect">
            <a:avLst>
              <a:gd name="adj" fmla="val 13000"/>
            </a:avLst>
          </a:prstGeom>
          <a:solidFill>
            <a:srgbClr val="FF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279392"/>
            <a:ext cx="2651760" cy="3200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E203D"/>
                </a:solidFill>
                <a:latin typeface="Aptos"/>
              </a:defRPr>
            </a:pPr>
            <a:r>
              <a:t>PostgreSQL 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2743200" cy="941832"/>
          </a:xfrm>
          <a:prstGeom prst="roundRect">
            <a:avLst>
              <a:gd name="adj" fmla="val 13000"/>
            </a:avLst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242816"/>
            <a:ext cx="1828800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E203D"/>
                </a:solidFill>
                <a:latin typeface="Aptos"/>
              </a:defRPr>
            </a:pPr>
            <a:r>
              <a:t>Node A  ·  8001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977639"/>
            <a:ext cx="2743200" cy="941832"/>
          </a:xfrm>
          <a:prstGeom prst="roundRect">
            <a:avLst>
              <a:gd name="adj" fmla="val 13000"/>
            </a:avLst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242816"/>
            <a:ext cx="1874519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0E203D"/>
                </a:solidFill>
                <a:latin typeface="Aptos"/>
              </a:defRPr>
            </a:pPr>
            <a:r>
              <a:t>Node B  ·  8002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7900" y="2221992"/>
            <a:ext cx="0" cy="466344"/>
          </a:xfrm>
          <a:prstGeom prst="line">
            <a:avLst/>
          </a:prstGeom>
          <a:ln w="26670">
            <a:solidFill>
              <a:srgbClr val="1D6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57900" y="3474720"/>
            <a:ext cx="0" cy="585216"/>
          </a:xfrm>
          <a:prstGeom prst="line">
            <a:avLst/>
          </a:prstGeom>
          <a:ln w="26670">
            <a:solidFill>
              <a:srgbClr val="1D6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103120" y="3072384"/>
            <a:ext cx="1691640" cy="905255"/>
          </a:xfrm>
          <a:prstGeom prst="line">
            <a:avLst/>
          </a:prstGeom>
          <a:ln w="26670">
            <a:solidFill>
              <a:srgbClr val="1D6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21040" y="3072384"/>
            <a:ext cx="1783080" cy="905255"/>
          </a:xfrm>
          <a:prstGeom prst="line">
            <a:avLst/>
          </a:prstGeom>
          <a:ln w="26670">
            <a:solidFill>
              <a:srgbClr val="1D6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596A7E"/>
                </a:solidFill>
                <a:latin typeface="Aptos"/>
              </a:defRPr>
            </a:pPr>
            <a:r>
              <a:t>Replicação dos ficheiros; metadados e ACL na base de dados; comunicação entre serviços via HTTPS.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06  MODELO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Estrutura institucional e controlo de acesso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64208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50008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Contas e papéis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664208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664208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828800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departments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350008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Registo, Direcção, RH, Finanças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43200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07792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429000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Proprietário e metadados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2743200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82512" y="2743200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2907792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document_shares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9" y="3429000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Permissões individuais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22191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822191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986783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department_shares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507992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Permissões departamentais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2512" y="3822191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82512" y="3822191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3986783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document_replicas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507992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Estado de cada nó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01184"/>
            <a:ext cx="5349240" cy="9418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4901184"/>
            <a:ext cx="68580" cy="941832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065776"/>
            <a:ext cx="4983479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audit_logs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586984"/>
            <a:ext cx="4937759" cy="1371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Operações e resultados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89904"/>
            <a:ext cx="10698480" cy="3200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B44643"/>
                </a:solidFill>
                <a:latin typeface="Aptos"/>
              </a:defRPr>
            </a:pPr>
            <a:r>
              <a:t>Regra central: o administrador não recebe automaticamente acesso ao conteúdo privado.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07 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Segurança, integridade e limites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74519"/>
            <a:ext cx="3593592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874519"/>
            <a:ext cx="68580" cy="1527048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322783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Argon2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182112" cy="722375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Proteção das palavras-passe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874519"/>
            <a:ext cx="3593592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874519"/>
            <a:ext cx="68580" cy="1527048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039112"/>
            <a:ext cx="322783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JWT RS256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60320"/>
            <a:ext cx="3182112" cy="722375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Identidade e validade da sessão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874519"/>
            <a:ext cx="3593592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2752" y="1874519"/>
            <a:ext cx="68580" cy="1527048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039112"/>
            <a:ext cx="322783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ACL por recurso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3182112" cy="722375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Proprietário, utilizador ou departamento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630168"/>
            <a:ext cx="3593592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3630168"/>
            <a:ext cx="68580" cy="1527048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794759"/>
            <a:ext cx="322783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HTTPS/TLS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3182112" cy="722375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Proteção de tráfego no laboratório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07992" y="3630168"/>
            <a:ext cx="3593592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07992" y="3630168"/>
            <a:ext cx="68580" cy="1527048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794759"/>
            <a:ext cx="322783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SHA-256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315968"/>
            <a:ext cx="3182112" cy="722375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Verificação do conteúdo recuperado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2752" y="3630168"/>
            <a:ext cx="3593592" cy="152704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02752" y="3630168"/>
            <a:ext cx="68580" cy="1527048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3794759"/>
            <a:ext cx="322783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Auditoria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315968"/>
            <a:ext cx="3182112" cy="722375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Registo de operações relevantes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" y="5577840"/>
            <a:ext cx="10698480" cy="502920"/>
          </a:xfrm>
          <a:prstGeom prst="roundRect">
            <a:avLst>
              <a:gd name="adj" fmla="val 13000"/>
            </a:avLst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05856"/>
            <a:ext cx="10332720" cy="25603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44643"/>
                </a:solidFill>
                <a:latin typeface="Aptos"/>
              </a:defRPr>
            </a:pPr>
            <a:r>
              <a:t>Limite: certificado local, sem cifra em repouso ou certificação para produção.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08  MECANISMO DISTRIBUÍDO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Replicação e estados consistentes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2615184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057400"/>
            <a:ext cx="68580" cy="233172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21992"/>
            <a:ext cx="2249424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1. uploading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43200"/>
            <a:ext cx="2203703" cy="152704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API recebe, calcula SHA-256 e regista intenção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2057400"/>
            <a:ext cx="2615184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2736" y="2057400"/>
            <a:ext cx="68580" cy="233172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2221992"/>
            <a:ext cx="2249424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2. Node A + Node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2743200"/>
            <a:ext cx="2203703" cy="152704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Duas escritas HTTPS e confirmação das cópias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5664" y="2057400"/>
            <a:ext cx="2615184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5664" y="2057400"/>
            <a:ext cx="68580" cy="2331720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221992"/>
            <a:ext cx="2249424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3.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2743200"/>
            <a:ext cx="2203703" cy="152704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Documento passa a estar visível aos autorizados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2057400"/>
            <a:ext cx="2615184" cy="23317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08592" y="2057400"/>
            <a:ext cx="68580" cy="233172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221992"/>
            <a:ext cx="2249424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4. fallback/reparação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743200"/>
            <a:ext cx="2203703" cy="152704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Se uma cópia falha, procurar outra íntegra e reconciliar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12080"/>
            <a:ext cx="10424160" cy="62179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B44643"/>
                </a:solidFill>
                <a:latin typeface="Aptos"/>
              </a:defRPr>
            </a:pPr>
            <a:r>
              <a:t>Replicação ≠ backup. Se a API, a BD ou ambas as cópias falharem, o serviço pode ficar indisponível.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09  EVIDÊNCIAS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Resultados já observados no computador do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A infraestrutura foi iniciada e o envio inicial funcionou. Não confundir isso com validação total.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330952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68580" cy="150876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93392"/>
            <a:ext cx="49651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4 contentores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4919472" cy="704087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API, PostgreSQL e Node A/B em execução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828800"/>
            <a:ext cx="5330952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4224" y="1828800"/>
            <a:ext cx="68580" cy="150876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993392"/>
            <a:ext cx="49651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514600"/>
            <a:ext cx="4919472" cy="704087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status ok; database connected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5330952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566160"/>
            <a:ext cx="68580" cy="150876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730752"/>
            <a:ext cx="49651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Contas fictícias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251960"/>
            <a:ext cx="4919472" cy="704087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Admin + 4 departamentos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3566160"/>
            <a:ext cx="5330952" cy="15087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64224" y="3566160"/>
            <a:ext cx="68580" cy="1508760"/>
          </a:xfrm>
          <a:prstGeom prst="roundRect">
            <a:avLst>
              <a:gd name="adj" fmla="val 13000"/>
            </a:avLst>
          </a:prstGeom>
          <a:solidFill>
            <a:srgbClr val="109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730752"/>
            <a:ext cx="4965192" cy="402336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Documento 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251960"/>
            <a:ext cx="4919472" cy="704087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pauta_ficticia.txt enviado por registo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10  CAPTURA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Evidência do primeiro envio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69848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Ficheiro de laboratório: pauta_ficticia.txt — ID #3 — proprietário registo.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evidencia_upload_regi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938528"/>
            <a:ext cx="8503920" cy="34771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5596128"/>
            <a:ext cx="10332720" cy="5486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596A7E"/>
                </a:solidFill>
                <a:latin typeface="Aptos"/>
              </a:defRPr>
            </a:pPr>
            <a:r>
              <a:t>A interface confirmou «Documento #3 replicado nos dois nós». A verificação direta das duas cópias ainda está pendente.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11  VALIDAÇÃO / INCIDENTES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Testes: o que falta validar?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10512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1984248"/>
            <a:ext cx="1088136" cy="365760"/>
          </a:xfrm>
          <a:prstGeom prst="roundRect">
            <a:avLst>
              <a:gd name="adj" fmla="val 13000"/>
            </a:avLst>
          </a:prstGeom>
          <a:solidFill>
            <a:srgbClr val="DA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43684"/>
            <a:ext cx="923544" cy="25603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PENDENTE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011680"/>
            <a:ext cx="3703320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Partilha para Direcção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32888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Documento ainda não apareceu na conta destinatária.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810512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92824" y="1984248"/>
            <a:ext cx="1088136" cy="365760"/>
          </a:xfrm>
          <a:prstGeom prst="roundRect">
            <a:avLst>
              <a:gd name="adj" fmla="val 13000"/>
            </a:avLst>
          </a:prstGeom>
          <a:solidFill>
            <a:srgbClr val="DA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043684"/>
            <a:ext cx="923544" cy="25603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PENDENTE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3" y="2011680"/>
            <a:ext cx="3703320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Acesso negado de RH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32888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Verificar autorização e recusa para terceiros.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" y="3831336"/>
            <a:ext cx="1088136" cy="365760"/>
          </a:xfrm>
          <a:prstGeom prst="roundRect">
            <a:avLst>
              <a:gd name="adj" fmla="val 13000"/>
            </a:avLst>
          </a:prstGeom>
          <a:solidFill>
            <a:srgbClr val="DA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890772"/>
            <a:ext cx="923544" cy="25603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PENDENTE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3858768"/>
            <a:ext cx="3703320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Falha do Node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379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Parar nó e comprovar download através do Node B.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3657600"/>
            <a:ext cx="5349240" cy="16002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92824" y="3831336"/>
            <a:ext cx="1088136" cy="365760"/>
          </a:xfrm>
          <a:prstGeom prst="roundRect">
            <a:avLst>
              <a:gd name="adj" fmla="val 13000"/>
            </a:avLst>
          </a:prstGeom>
          <a:solidFill>
            <a:srgbClr val="DA9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890772"/>
            <a:ext cx="923544" cy="25603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PENDENTE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3858768"/>
            <a:ext cx="3703320" cy="36576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E203D"/>
                </a:solidFill>
                <a:latin typeface="Aptos"/>
              </a:defRPr>
            </a:pPr>
            <a:r>
              <a:t>Reparação e auditoria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379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96A7E"/>
                </a:solidFill>
                <a:latin typeface="Aptos"/>
              </a:defRPr>
            </a:pPr>
            <a:r>
              <a:t>Validar ambas as réplicas, logs e métricas.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3000"/>
            </a:avLst>
          </a:prstGeom>
          <a:solidFill>
            <a:srgbClr val="1D6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058400" cy="2743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D6CB5"/>
                </a:solidFill>
                <a:latin typeface="Aptos"/>
              </a:defRPr>
            </a:pPr>
            <a:r>
              <a:t>12  CONCLUSÃO PRELIMINAR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0350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0E203D"/>
                </a:solidFill>
                <a:latin typeface="Aptos"/>
              </a:defRPr>
            </a:pPr>
            <a:r>
              <a:t>Conclusão: o que podemos afirmar?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492240"/>
            <a:ext cx="11064240" cy="10972"/>
          </a:xfrm>
          <a:prstGeom prst="roundRect">
            <a:avLst>
              <a:gd name="adj" fmla="val 13000"/>
            </a:avLst>
          </a:prstGeom>
          <a:solidFill>
            <a:srgbClr val="CF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9144000" cy="201168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96A7E"/>
                </a:solidFill>
                <a:latin typeface="Aptos"/>
              </a:defRPr>
            </a:pPr>
            <a:r>
              <a:t>Protótipo académico · dados fictícios · resultados parciais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22860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96A7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10607040" cy="1874519"/>
          </a:xfrm>
          <a:prstGeom prst="roundRect">
            <a:avLst>
              <a:gd name="adj" fmla="val 13000"/>
            </a:avLst>
          </a:prstGeom>
          <a:solidFill>
            <a:srgbClr val="E1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157984"/>
            <a:ext cx="9966960" cy="50292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0E203D"/>
                </a:solidFill>
                <a:latin typeface="Aptos"/>
              </a:defRPr>
            </a:pPr>
            <a:r>
              <a:t>A arquitetura em quatro serviços funciona em laboratório.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779776"/>
            <a:ext cx="9875520" cy="530352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96A7E"/>
                </a:solidFill>
                <a:latin typeface="Aptos"/>
              </a:defRPr>
            </a:pPr>
            <a:r>
              <a:t>API ligada à base de dados; contas criadas; upload inicial demonstrado.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78224"/>
            <a:ext cx="10607040" cy="1207008"/>
          </a:xfrm>
          <a:prstGeom prst="roundRect">
            <a:avLst>
              <a:gd name="adj" fmla="val 13000"/>
            </a:avLst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315968"/>
            <a:ext cx="9966960" cy="777240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B44643"/>
                </a:solidFill>
                <a:latin typeface="Aptos"/>
              </a:defRPr>
            </a:pPr>
            <a:r>
              <a:t>A tese de autorização interdepartamental e tolerância a falhas só será concluída depois dos testes pendentes.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715000"/>
            <a:ext cx="10332720" cy="329184"/>
          </a:xfrm>
          <a:prstGeom prst="rect">
            <a:avLst/>
          </a:prstGeom>
          <a:noFill/>
        </p:spPr>
        <p:txBody>
          <a:bodyPr wrap="square" lIns="18288" rIns="18288" tIns="27432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1D6CB5"/>
                </a:solidFill>
                <a:latin typeface="Aptos"/>
              </a:defRPr>
            </a:pPr>
            <a:r>
              <a:t>Próximo passo: corrigir partilha → testar RH → parar Node A → medir e registar.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